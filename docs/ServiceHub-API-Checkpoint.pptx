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 tarde! Somos a equipe do ServiceHub API e vamos apresentar o Checkpoint do projeto da disciplina de Engenharia de Software. Em cerca de 8 a 10 minutos vamos mostrar o contexto, a arquitetura, o CRUD que implementamos, a documentação com Swagger e como validamos tudo. Tudo o que aparece nos slides foi executado de verdade. (Antes de apresentar: substituir o texto "Integrantes" pelos nomes da equipe.)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ServiceHub é uma plataforma de catálogo de serviços: cada serviço tem nome, categoria, preço e duração estimada. O problema que a API resolve é dar um ponto único e padronizado para cadastrar e consultar esses serviços, com um contrato claro para que outros sistemas possam integrar. O objetivo deste Checkpoint foi entregar um recurso completo de ponta a ponta: o CRUD de Serviços, persistido em PostgreSQL e documentado no Swagger.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base é Java 21 com Spring Boot 3.5. Usamos Spring Web para a camada REST, Spring Data JPA para a persistência e PostgreSQL 16 como banco. O Flyway versiona o esquema do banco por migrations, e o SpringDoc gera o OpenAPI e o Swagger UI. O build é Maven, com o Maven Wrapper incluído, então quem clonar o projeto só precisa do JDK. Para validação de entrada usamos Bean Validation, e nos testes JUnit, MockMvc, Mockito e um H2 em memória.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projeto segue uma arquitetura em camadas, cada uma com uma responsabilidade. O Controller só cuida de HTTP: recebe a requisição, valida com @Valid e devolve o status correto. O Service concentra as regras e as transações — por exemplo, lança a exceção de "não encontrado" quando o ID não existe. O Repository estende JpaRepository, então não escrevemos SQL para o CRUD. Por baixo fica o PostgreSQL. Em paralelo, a Entity representa a tabela, os DTOs definem o contrato de entrada e saída, e um handler global padroniza todos os erros.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recurso escolhido foi Serviço. Ele tem id gerado pelo banco, nome, descrição opcional, categoria, preço e duração estimada em minutos, além das datas de criação e atualização, que a própria API preenche. A tabela é criada por uma migration do Flyway; o Hibernate está em modo validate, ou seja, ele apenas confere se a entidade bate com o esquema, sem alterar o banco. O Spring Data JPA faz a leitura e a gravação. Repare nas restrições CHECK no banco: preço e duração precisam ser maiores que zero, então o banco também protege a regra. A conexão vem de variáveis de ambiente, sem senha no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Estes são os cinco endpoints do CRUD, todos com URIs no plural e sem verbos na rota. POST cria e devolve 201 com o cabeçalho Location apontando para o novo recurso. GET lista todos ou busca por ID e devolve 200. PUT atualiza e devolve 200 — escolhemos PUT, então ele substitui o recurso inteiro: todos os campos obrigatórios precisam ser enviados. DELETE devolve 204, sem corpo. Quando o ID não existe, GET, PUT e DELETE devolvem 404; dados inválidos devolvem 400. Os erros usam o padrão Problem Details, com o campo e a mensagem de cada validação que falhou.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documentação é gerada pelo SpringDoc a partir do código. O Swagger UI fica em localhost:8080/swagger-ui.html e a especificação OpenAPI em /v3/api-docs. Esta é uma captura real da nossa tela: os cinco endpoints, com o summary de cada um em português. Cada endpoint tem @Operation com summary e description, @ApiResponse para os códigos que realmente retornam, incluindo exemplos de erro, e os DTOs têm @Schema com descrição e exemplo. Nos testes automatizados, inclusive, verificamos que todos os endpoints têm summary e description no OpenAPI.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está a demonstração. À esquerda, uma requisição executada de verdade pelo próprio Swagger UI: o POST com o corpo de exemplo devolveu 201 Created, com o corpo do serviço criado e o cabeçalho Location. À direita, a sequência que rodamos com curl contra a API ligada ao PostgreSQL: criar, listar, buscar, atualizar — repare que a data de atualização muda e a de criação se mantém —, excluir com 204 e os erros: 404 quando o ID não existe e 400 quando o corpo é inválido, listando os quatro campos obrigatórios que faltaram. Todos esses status foram observados na execução, não são apenas os esperados.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À esquerda, dois trechos reais do código. O método criar do controller recebe o corpo já validado por @Valid, chama o Service e devolve 201 com o cabeçalho Location. Embaixo, as validações do DTO com Bean Validation: nome obrigatório de 3 a 100 caracteres, preço maior que zero, duração de pelo menos 1 minuto. À direita, a validação: 27 testes automatizados, todos passando — 23 de integração com MockMvc e 4 unitários com Mockito. Além disso, rodamos a aplicação contra um PostgreSQL 16.4 real, conferimos os dados com SELECT direto na tabela e reiniciamos a aplicação para confirmar que os dados persistem. Sobre limitações, sendo transparentes: ainda não há autenticação nem paginação, e os testes automatizados usam H2 em memória — a verificação com PostgreSQL foi manual.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Resumindo: entregamos o projeto Spring Boot configurado com PostgreSQL, o CRUD completo do recurso Serviços, com validação e erros padronizados, a documentação no Swagger com todos os endpoints e 27 testes automatizados passando. Para a entrega final, os próximos passos que planejamos são: autenticação e autorização, novos recursos do domínio — por exemplo clientes e agendamentos —, paginação e filtros na listagem, testes com um PostgreSQL real usando Testcontainers e o empacotamento para deploy. Esses itens são o plano, ainda não estão implementados.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Obrigado pela atenção! O código, o README com as instruções para executar e a documentação estão no repositório. Ficamos à disposição para perguntas — se quiserem, podemos abrir o Swagger ao vivo e executar qualquer endpoint.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601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6DB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DO PROJETO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ServiceHub API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RESTful para catálogo de serviços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3375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9F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 de Software · 6º período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9F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 de APIs RESTful com Java e Spring Boot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9F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 [preencher com os nomes da equipe]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760720" y="1097280"/>
            <a:ext cx="2926080" cy="2743200"/>
          </a:xfrm>
          <a:prstGeom prst="roundRect">
            <a:avLst>
              <a:gd name="adj" fmla="val 3333"/>
            </a:avLst>
          </a:prstGeom>
          <a:solidFill>
            <a:srgbClr val="0F1B23"/>
          </a:solidFill>
          <a:ln w="12700">
            <a:solidFill>
              <a:srgbClr val="1F3A4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0" y="1243584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126480" y="1243584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243584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0" y="1508760"/>
            <a:ext cx="2606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CC4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/api/v1/servicos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8FD1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OK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E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E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1,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5B9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"nome": "Instalação 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5B9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split 18.000 BTUs",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E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"categoria":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5B9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"Climatização",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E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"preco": 480.00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E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E7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 OBJETIVO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o ServiceHub?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ServiceHub API · Checkpoint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00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256032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E1E8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1508760"/>
            <a:ext cx="548640" cy="548640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71600" y="150876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224028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catálogo de serviços.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serviço tem nome, categoria, preço e duração estimada.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291840" y="1325880"/>
            <a:ext cx="256032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E1E8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20440" y="1508760"/>
            <a:ext cx="548640" cy="548640"/>
          </a:xfrm>
          <a:prstGeom prst="ellipse">
            <a:avLst/>
          </a:prstGeom>
          <a:solidFill>
            <a:srgbClr val="C77A0A"/>
          </a:solidFill>
          <a:ln w="12700">
            <a:solidFill>
              <a:srgbClr val="C77A0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645920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206240" y="150876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3520440" y="224028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Cadastrar e consultar serviços exige um ponto único e padronizado.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um contrato claro, integrar sistemas fica difícil.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126480" y="1325880"/>
            <a:ext cx="256032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E1E8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355080" y="1508760"/>
            <a:ext cx="548640" cy="548640"/>
          </a:xfrm>
          <a:prstGeom prst="ellipse">
            <a:avLst/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645920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040880" y="150876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6355080" y="224028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com CRUD completo do recurso Serviços.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em PostgreSQL e documentação interativa no Swagger.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457200" y="388620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0B1F2A"/>
          </a:solidFill>
          <a:ln w="12700">
            <a:solidFill>
              <a:srgbClr val="0B1F2A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388620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B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do Checkpoint: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recurso completo, de ponta a ponta — requisição HTTP → regras → banco de dados → documentação.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E7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Tecnologias utilizadas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ServiceHub API · Checkpoint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00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8745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1E8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508760"/>
            <a:ext cx="502920" cy="502920"/>
          </a:xfrm>
          <a:prstGeom prst="ellipse">
            <a:avLst/>
          </a:prstGeom>
          <a:solidFill>
            <a:srgbClr val="C2691E"/>
          </a:solidFill>
          <a:ln w="12700">
            <a:solidFill>
              <a:srgbClr val="C2691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810" y="1634490"/>
            <a:ext cx="251460" cy="2514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0080" y="21031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2331720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Linguagem (LTS)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575560" y="1325880"/>
            <a:ext cx="18745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1E8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758440" y="1508760"/>
            <a:ext cx="502920" cy="502920"/>
          </a:xfrm>
          <a:prstGeom prst="ellipse">
            <a:avLst/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70" y="1634490"/>
            <a:ext cx="251460" cy="2514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758440" y="21031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3.5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2758440" y="2331720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base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693920" y="1325880"/>
            <a:ext cx="18745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1E8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876800" y="1508760"/>
            <a:ext cx="502920" cy="502920"/>
          </a:xfrm>
          <a:prstGeom prst="ellipse">
            <a:avLst/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2530" y="1634490"/>
            <a:ext cx="251460" cy="25146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876800" y="21031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Web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876800" y="2331720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REST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6812280" y="1325880"/>
            <a:ext cx="18745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1E8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995160" y="1508760"/>
            <a:ext cx="502920" cy="502920"/>
          </a:xfrm>
          <a:prstGeom prst="ellipse">
            <a:avLst/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0890" y="1634490"/>
            <a:ext cx="251460" cy="25146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995160" y="21031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Data JPA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6995160" y="2331720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Repositórios e ORM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457200" y="2788920"/>
            <a:ext cx="18745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1E8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640080" y="2971800"/>
            <a:ext cx="502920" cy="502920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810" y="3097530"/>
            <a:ext cx="251460" cy="25146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640080" y="356616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640080" y="3794760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relacional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2575560" y="2788920"/>
            <a:ext cx="18745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1E8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2758440" y="2971800"/>
            <a:ext cx="502920" cy="502920"/>
          </a:xfrm>
          <a:prstGeom prst="ellipse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84170" y="3097530"/>
            <a:ext cx="251460" cy="25146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2758440" y="356616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Flyway</a:t>
            </a:r>
            <a:endParaRPr lang="en-US" sz="1400" dirty="0"/>
          </a:p>
        </p:txBody>
      </p:sp>
      <p:sp>
        <p:nvSpPr>
          <p:cNvPr id="35" name="Text 27"/>
          <p:cNvSpPr txBox="1"/>
          <p:nvPr/>
        </p:nvSpPr>
        <p:spPr>
          <a:xfrm>
            <a:off x="2758440" y="3794760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Migrations versionadas</a:t>
            </a:r>
            <a:endParaRPr lang="en-US" sz="1100" dirty="0"/>
          </a:p>
        </p:txBody>
      </p:sp>
      <p:sp>
        <p:nvSpPr>
          <p:cNvPr id="36" name="Shape 28"/>
          <p:cNvSpPr/>
          <p:nvPr/>
        </p:nvSpPr>
        <p:spPr>
          <a:xfrm>
            <a:off x="4693920" y="2788920"/>
            <a:ext cx="18745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1E8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Shape 29"/>
          <p:cNvSpPr/>
          <p:nvPr/>
        </p:nvSpPr>
        <p:spPr>
          <a:xfrm>
            <a:off x="4876800" y="2971800"/>
            <a:ext cx="502920" cy="502920"/>
          </a:xfrm>
          <a:prstGeom prst="ellipse">
            <a:avLst/>
          </a:prstGeom>
          <a:solidFill>
            <a:srgbClr val="2C8C5A"/>
          </a:solidFill>
          <a:ln w="12700">
            <a:solidFill>
              <a:srgbClr val="2C8C5A"/>
            </a:solidFill>
            <a:prstDash val="solid"/>
          </a:ln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02530" y="3097530"/>
            <a:ext cx="251460" cy="25146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4876800" y="356616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SpringDoc OpenAPI</a:t>
            </a:r>
            <a:endParaRPr lang="en-US" sz="1400" dirty="0"/>
          </a:p>
        </p:txBody>
      </p:sp>
      <p:sp>
        <p:nvSpPr>
          <p:cNvPr id="40" name="Text 31"/>
          <p:cNvSpPr txBox="1"/>
          <p:nvPr/>
        </p:nvSpPr>
        <p:spPr>
          <a:xfrm>
            <a:off x="4876800" y="3794760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UI + OpenAPI</a:t>
            </a:r>
            <a:endParaRPr lang="en-US" sz="1100" dirty="0"/>
          </a:p>
        </p:txBody>
      </p:sp>
      <p:sp>
        <p:nvSpPr>
          <p:cNvPr id="41" name="Shape 32"/>
          <p:cNvSpPr/>
          <p:nvPr/>
        </p:nvSpPr>
        <p:spPr>
          <a:xfrm>
            <a:off x="6812280" y="2788920"/>
            <a:ext cx="18745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1E8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2" name="Shape 33"/>
          <p:cNvSpPr/>
          <p:nvPr/>
        </p:nvSpPr>
        <p:spPr>
          <a:xfrm>
            <a:off x="6995160" y="2971800"/>
            <a:ext cx="502920" cy="502920"/>
          </a:xfrm>
          <a:prstGeom prst="ellipse">
            <a:avLst/>
          </a:prstGeom>
          <a:solidFill>
            <a:srgbClr val="8A4B9E"/>
          </a:solidFill>
          <a:ln w="12700">
            <a:solidFill>
              <a:srgbClr val="8A4B9E"/>
            </a:solidFill>
            <a:prstDash val="solid"/>
          </a:ln>
        </p:spPr>
      </p:sp>
      <p:pic>
        <p:nvPicPr>
          <p:cNvPr id="4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20890" y="3097530"/>
            <a:ext cx="251460" cy="251460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6995160" y="356616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</a:t>
            </a:r>
            <a:endParaRPr lang="en-US" sz="1400" dirty="0"/>
          </a:p>
        </p:txBody>
      </p:sp>
      <p:sp>
        <p:nvSpPr>
          <p:cNvPr id="45" name="Text 35"/>
          <p:cNvSpPr txBox="1"/>
          <p:nvPr/>
        </p:nvSpPr>
        <p:spPr>
          <a:xfrm>
            <a:off x="6995160" y="3794760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e Maven Wrapper</a:t>
            </a:r>
            <a:endParaRPr lang="en-US" sz="1100" dirty="0"/>
          </a:p>
        </p:txBody>
      </p:sp>
      <p:sp>
        <p:nvSpPr>
          <p:cNvPr id="46" name="Text 36"/>
          <p:cNvSpPr txBox="1"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Também: </a:t>
            </a:r>
            <a:pPr indent="0" marL="0">
              <a:buNone/>
            </a:pPr>
            <a:r>
              <a:rPr lang="en-US" sz="13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Bean Validation · JUnit 5 · MockMvc · Mockito · H2 (apenas nos testes)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E7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em camadas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ServiceHub API · Checkpoint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00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371600" cy="868680"/>
          </a:xfrm>
          <a:prstGeom prst="roundRect">
            <a:avLst>
              <a:gd name="adj" fmla="val 8421"/>
            </a:avLst>
          </a:prstGeom>
          <a:solidFill>
            <a:srgbClr val="3A4F5C"/>
          </a:solidFill>
          <a:ln w="12700">
            <a:solidFill>
              <a:srgbClr val="3A4F5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57200" y="132588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6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3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+ JSON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75488" y="2331720"/>
            <a:ext cx="13350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UI, curl ou um front-end.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856232" y="1760220"/>
            <a:ext cx="288036" cy="0"/>
          </a:xfrm>
          <a:prstGeom prst="line">
            <a:avLst/>
          </a:prstGeom>
          <a:noFill/>
          <a:ln w="22225">
            <a:solidFill>
              <a:srgbClr val="5B6B75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171700" y="1325880"/>
            <a:ext cx="1371600" cy="868680"/>
          </a:xfrm>
          <a:prstGeom prst="roundRect">
            <a:avLst>
              <a:gd name="adj" fmla="val 8421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2171700" y="132588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endParaRPr lang="en-US" sz="16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3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ServicoController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189988" y="2331720"/>
            <a:ext cx="13350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 a requisição, aplica @Valid e define o status HTTP e a URI.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570732" y="1760220"/>
            <a:ext cx="288036" cy="0"/>
          </a:xfrm>
          <a:prstGeom prst="line">
            <a:avLst/>
          </a:prstGeom>
          <a:noFill/>
          <a:ln w="22225">
            <a:solidFill>
              <a:srgbClr val="5B6B7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886200" y="1325880"/>
            <a:ext cx="1371600" cy="868680"/>
          </a:xfrm>
          <a:prstGeom prst="roundRect">
            <a:avLst>
              <a:gd name="adj" fmla="val 8421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3886200" y="132588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16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3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ServicoService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904488" y="2331720"/>
            <a:ext cx="13350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de negócio e transações. Lança 404 se o ID não existe.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285232" y="1760220"/>
            <a:ext cx="288036" cy="0"/>
          </a:xfrm>
          <a:prstGeom prst="line">
            <a:avLst/>
          </a:prstGeom>
          <a:noFill/>
          <a:ln w="22225">
            <a:solidFill>
              <a:srgbClr val="5B6B7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600700" y="1325880"/>
            <a:ext cx="1371600" cy="868680"/>
          </a:xfrm>
          <a:prstGeom prst="roundRect">
            <a:avLst>
              <a:gd name="adj" fmla="val 8421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600700" y="132588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16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3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ServicoRepository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618988" y="2331720"/>
            <a:ext cx="13350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JpaRepository: CRUD sem escrever SQL.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999732" y="1760220"/>
            <a:ext cx="288036" cy="0"/>
          </a:xfrm>
          <a:prstGeom prst="line">
            <a:avLst/>
          </a:prstGeom>
          <a:noFill/>
          <a:ln w="22225">
            <a:solidFill>
              <a:srgbClr val="5B6B75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315200" y="1325880"/>
            <a:ext cx="1371600" cy="868680"/>
          </a:xfrm>
          <a:prstGeom prst="roundRect">
            <a:avLst>
              <a:gd name="adj" fmla="val 8421"/>
            </a:avLst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315200" y="132588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6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3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servicos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333488" y="2331720"/>
            <a:ext cx="13350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criado pela migration V1 do Flyway.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3520440"/>
            <a:ext cx="40233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1E8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0080" y="3703320"/>
            <a:ext cx="457200" cy="457200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3817620"/>
            <a:ext cx="228600" cy="22860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1234440" y="36118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+ DTOs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1234440" y="3904488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Servico mapeia a tabela. ServicoRequest e ServicoResponse são o contrato da API, com validações.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663440" y="3520440"/>
            <a:ext cx="40233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1E8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846320" y="3703320"/>
            <a:ext cx="457200" cy="457200"/>
          </a:xfrm>
          <a:prstGeom prst="ellipse">
            <a:avLst/>
          </a:prstGeom>
          <a:solidFill>
            <a:srgbClr val="C77A0A"/>
          </a:solidFill>
          <a:ln w="12700">
            <a:solidFill>
              <a:srgbClr val="C77A0A"/>
            </a:solidFill>
            <a:prstDash val="solid"/>
          </a:ln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0620" y="3817620"/>
            <a:ext cx="228600" cy="228600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5440680" y="36118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Tratamento de erros</a:t>
            </a:r>
            <a:endParaRPr lang="en-US" sz="1400" dirty="0"/>
          </a:p>
        </p:txBody>
      </p:sp>
      <p:sp>
        <p:nvSpPr>
          <p:cNvPr id="34" name="Text 30"/>
          <p:cNvSpPr txBox="1"/>
          <p:nvPr/>
        </p:nvSpPr>
        <p:spPr>
          <a:xfrm>
            <a:off x="5440680" y="3904488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GlobalExceptionHandler (@RestControllerAdvice) padroniza os erros em Problem Details (RFC 9457).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E7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 DO RECURSO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 Servico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ServiceHub API · Checkpoint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00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80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67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servicos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48463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600200"/>
                <a:gridCol w="15544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2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B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BIGINT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PK, identity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nome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VARCHAR(100)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NOT NULL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descricao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VARCHAR(500)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opcional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VARCHAR(60)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NOT NULL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preco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NUMERIC(10,2)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NOT NULL, &gt; 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duracao_minutos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INTEGER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NOT NULL, &gt; 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criado_em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TIMESTAMPTZ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NOT NULL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atualizado_em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TIMESTAMPTZ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NOT NULL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23560" y="1280160"/>
            <a:ext cx="30632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E1E8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760720" y="1499616"/>
            <a:ext cx="420624" cy="420624"/>
          </a:xfrm>
          <a:prstGeom prst="ellipse">
            <a:avLst/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760720" y="149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309360" y="1335024"/>
            <a:ext cx="22860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Flyway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migration V1__criar_tabela_servicos.sql cria a tabela.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23560" y="2267712"/>
            <a:ext cx="30632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E1E8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760720" y="2487168"/>
            <a:ext cx="420624" cy="420624"/>
          </a:xfrm>
          <a:prstGeom prst="ellipse">
            <a:avLst/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760720" y="2487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6309360" y="2322576"/>
            <a:ext cx="22860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Hibernate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ddl-auto=validate, só confere se a entidade bate com o esquema.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23560" y="3255264"/>
            <a:ext cx="30632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E1E8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760720" y="3474720"/>
            <a:ext cx="420624" cy="420624"/>
          </a:xfrm>
          <a:prstGeom prst="ellipse">
            <a:avLst/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760720" y="34747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6309360" y="3310128"/>
            <a:ext cx="22860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Data JPA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ServicoRepository grava e lê os dados no PostgreSQL.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5623560" y="422452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Conexão via variáveis de ambiente: DB_URL, DB_USER e DB_PASSWORD (nenhuma senha no repositório).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E7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IMPLEMENTADO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do recurso Serviços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ServiceHub API · Checkpoint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00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11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514600"/>
                <a:gridCol w="1965960"/>
                <a:gridCol w="1600200"/>
                <a:gridCol w="123444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Método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Sucesso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2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A36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/api/v1/servicos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Criar serviço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 Created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F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/api/v1/servicos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Listar todos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OK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F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/api/v1/servicos/{id}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Buscar por 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OK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400, 404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820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/api/v1/servicos/{id}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Atualizar (completo)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OK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400, 404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3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/api/v1/servicos/{id}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Excluir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 No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400, 404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114800"/>
            <a:ext cx="4023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1E8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594360" y="41148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substitui o recurso inteiro. </a:t>
            </a:r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campos obrigatórios; a data de criação é preservada.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4114800"/>
            <a:ext cx="4023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1E8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800600" y="41148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 em Problem Details. </a:t>
            </a:r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application/problem+json, com a lista de campos inválidos.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E7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UI / OpenAPI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ServiceHub API · Checkpoint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00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11</a:t>
            </a:r>
            <a:endParaRPr lang="en-US" sz="900" dirty="0"/>
          </a:p>
        </p:txBody>
      </p:sp>
      <p:pic>
        <p:nvPicPr>
          <p:cNvPr id="6" name="Image 0" descr="C:\Projetos\Github\ServiceHub-API\docs\img\swagger-u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25880"/>
            <a:ext cx="4937760" cy="249288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1325880"/>
            <a:ext cx="4937760" cy="2492883"/>
          </a:xfrm>
          <a:prstGeom prst="rect">
            <a:avLst/>
          </a:prstGeom>
          <a:ln w="9525">
            <a:solidFill>
              <a:srgbClr val="C9D4D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3928491"/>
            <a:ext cx="4937760" cy="658368"/>
          </a:xfrm>
          <a:prstGeom prst="roundRect">
            <a:avLst>
              <a:gd name="adj" fmla="val 11111"/>
            </a:avLst>
          </a:prstGeom>
          <a:solidFill>
            <a:srgbClr val="0F1B23"/>
          </a:solidFill>
          <a:ln w="9525">
            <a:solidFill>
              <a:srgbClr val="1F3A4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4019931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7CC4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springdoc-openapi-starter-webmvc-ui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D6E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2.8.17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D6E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springdoc.swagger-ui.path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D6E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F5B9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/swagger-ui.html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D6E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springdoc.api-docs.path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D6E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F5B9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/v3/api-docs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806440" y="1325880"/>
            <a:ext cx="2880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E1E8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5943600" y="137160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UI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3367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localhost:8080/swagger-ui.html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(JSON)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3367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localhost:8080/v3/api-docs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806440" y="2450592"/>
            <a:ext cx="28803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1E8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5943600" y="245059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7B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@Tag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agrupa o controller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806440" y="2999232"/>
            <a:ext cx="28803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1E8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5943600" y="299923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7B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@Operation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e description em cada endpoint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806440" y="3547872"/>
            <a:ext cx="28803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1E8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5943600" y="354787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7B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@ApiResponse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códigos HTTP e exemplos de erro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806440" y="4096512"/>
            <a:ext cx="28803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1E8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5943600" y="409651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7B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@Schema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dos DTOs com descrição e exemplo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806440" y="464515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real do Swagger UI, com os 5 endpoints do CRUD.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E7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Requisições e respostas reais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ServiceHub API · Checkpoint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00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801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no próprio Swagger UI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5B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/api/v1/servicos → Try it out → Execute</a:t>
            </a:r>
            <a:endParaRPr lang="en-US" sz="1200" dirty="0"/>
          </a:p>
        </p:txBody>
      </p:sp>
      <p:pic>
        <p:nvPicPr>
          <p:cNvPr id="7" name="Image 0" descr="C:\Projetos\Github\ServiceHub-API\docs\img\swagger-resposta-2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828800"/>
            <a:ext cx="3657600" cy="258123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828800"/>
            <a:ext cx="3657600" cy="2581235"/>
          </a:xfrm>
          <a:prstGeom prst="rect">
            <a:avLst/>
          </a:prstGeom>
          <a:ln w="9525">
            <a:solidFill>
              <a:srgbClr val="C9D4DB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0" y="1325880"/>
          <a:ext cx="429768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594360"/>
                <a:gridCol w="21031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2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B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POST /servicos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12700" marB="127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DA3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Location: …/servicos/1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B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 /servicos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12700" marB="127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7F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 com 2 itens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B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 /servicos/1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12700" marB="127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7F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serviço encontrado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B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PUT /servicos/1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12700" marB="127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82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atualizadoEm renovado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B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 /servicos/2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12700" marB="127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DA3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corpo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B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 /servicos/99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12700" marB="127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6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 Details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B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POST /servicos {}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12700" marB="127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6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campos inválidos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389120" y="3703320"/>
            <a:ext cx="4297680" cy="960120"/>
          </a:xfrm>
          <a:prstGeom prst="roundRect">
            <a:avLst>
              <a:gd name="adj" fmla="val 7619"/>
            </a:avLst>
          </a:prstGeom>
          <a:solidFill>
            <a:srgbClr val="0F1B23"/>
          </a:solidFill>
          <a:ln w="9525">
            <a:solidFill>
              <a:srgbClr val="1F3A4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526280" y="379476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8FD1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/api/v1/servicos/99  →  404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E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7CC4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E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F5B9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"Recurso não encontrado"</a:t>
            </a:r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E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7CC4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"status"</a:t>
            </a:r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E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404,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7CC4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"detail"</a:t>
            </a:r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E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F5B9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"Serviço com id 99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F5B9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não encontrado" }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E7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IMPLEMENTAÇÃO E VALIDAÇÃO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Código, testes e persistência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ServiceHub API · Checkpoint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00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4572000" cy="3291840"/>
          </a:xfrm>
          <a:prstGeom prst="roundRect">
            <a:avLst>
              <a:gd name="adj" fmla="val 2222"/>
            </a:avLst>
          </a:prstGeom>
          <a:solidFill>
            <a:srgbClr val="0F1B23"/>
          </a:solidFill>
          <a:ln w="9525">
            <a:solidFill>
              <a:srgbClr val="1F3A4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417320"/>
            <a:ext cx="42976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9FB4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ServicoController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8FD1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@PostMapping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7CC4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D6E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ResponseEntity&lt;ServicoResponse&gt; criar(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D6E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@Valid @RequestBody ServicoRequest request) {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D6E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 criado = servicoService.criar(request);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D6E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URI location = ServletUriComponentsBuilder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D6E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.fromCurrentRequest().path(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F5B9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"/{id}"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D6E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D6E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.buildAndExpand(criado.id()).toUri();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7CC4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D6E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ResponseEntity.created(location)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D6E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.body(criado);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D6E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D6E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9FB4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ServicoRequest (Bean Validation)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D6E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@NotBlank @Size(min = 3, max = 100) String nome,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D6E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@NotNull @DecimalMin(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F5B9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"0.01"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D6E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BigDecimal preco,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D6E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@NotNull @Min(1) Integer duracaoMinutos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303520" y="1325880"/>
            <a:ext cx="33832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1E8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5440680" y="137160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E7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6720840" y="137160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automatizados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3E7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falhas · 0 erros · 0 ignorados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de integração (MockMvc + H2) e 4 unitários (Mockito)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03520" y="2560320"/>
            <a:ext cx="33832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E1E8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440680" y="260604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 manualmente no PostgreSQL 16.4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por HTTP · SELECT direto na tabela · dados mantidos após reiniciar a aplicação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303520" y="3749040"/>
            <a:ext cx="3383280" cy="868680"/>
          </a:xfrm>
          <a:prstGeom prst="roundRect">
            <a:avLst>
              <a:gd name="adj" fmla="val 8421"/>
            </a:avLst>
          </a:prstGeom>
          <a:solidFill>
            <a:srgbClr val="FFF6E5"/>
          </a:solidFill>
          <a:ln w="9525">
            <a:solidFill>
              <a:srgbClr val="E1E8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440680" y="3776472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 atuais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E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autenticação e sem paginação. Os testes automatizados usam H2, não PostgreSQL.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E7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 e próximos passos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ServiceHub API · Checkpoint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00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397764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E1E8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1508760"/>
            <a:ext cx="457200" cy="457200"/>
          </a:xfrm>
          <a:prstGeom prst="ellipse">
            <a:avLst/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623060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80160" y="1508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 no Checkpoint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194560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Spring Boot configurado com PostgreSQL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completo de Serviços em /api/v1/servicos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e erros padronizados (400, 404)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UI com todos os endpoints documentados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testes automatizados passando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709160" y="1325880"/>
            <a:ext cx="397764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E1E8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937760" y="1508760"/>
            <a:ext cx="457200" cy="457200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2060" y="1623060"/>
            <a:ext cx="228600" cy="2286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532120" y="1508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 (entrega final)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983480" y="2194560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e autorização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Novos recursos do domínio (ex.: clientes, agendamentos)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Paginação e filtros na listagem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com PostgreSQL real (Testcontainers)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Empacotamento e deploy da API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Obrigado!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659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6DB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Perguntas?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918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CA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9F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README.md: execução, endpoints e testes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212080" y="1097280"/>
            <a:ext cx="3474720" cy="2606040"/>
          </a:xfrm>
          <a:prstGeom prst="roundRect">
            <a:avLst>
              <a:gd name="adj" fmla="val 3509"/>
            </a:avLst>
          </a:prstGeom>
          <a:solidFill>
            <a:srgbClr val="12303F"/>
          </a:solidFill>
          <a:ln w="12700">
            <a:solidFill>
              <a:srgbClr val="1F3A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40680" y="1234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B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40680" y="1645920"/>
            <a:ext cx="3063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A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das aulas da disciplina (REST, Spring Boot, JPA/PostgreSQL, OpenAPI)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A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Reference — docs.spring.io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A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SpringDoc OpenAPI — springdoc.org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A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Documentation — postgresql.org/docs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A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Flyway — documentation.red-gate.com/flyway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A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9457: Problem Details for HTTP APIs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ServiceHub API — Checkpoint do Projeto</dc:title>
  <dc:subject>Engenharia de Software — 6º período</dc:subject>
  <dc:creator>PptxGenJS</dc:creator>
  <cp:lastModifiedBy>PptxGenJS</cp:lastModifiedBy>
  <cp:revision>1</cp:revision>
  <dcterms:created xsi:type="dcterms:W3CDTF">2026-09-20T15:22:06Z</dcterms:created>
  <dcterms:modified xsi:type="dcterms:W3CDTF">2026-09-20T15:22:06Z</dcterms:modified>
</cp:coreProperties>
</file>