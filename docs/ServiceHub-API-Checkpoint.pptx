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tarde! Somos a equipe do ServiceHub API e vamos apresentar o Checkpoint do projeto da disciplina de Engenharia de Software. Em cerca de 8 a 10 minutos vamos mostrar o contexto, a arquitetura, o CRUD que implementamos, a documentação com Swagger e como validamos tudo. Tudo o que aparece nos slides foi executado de verdade. (Antes de apresentar: substituir o texto "Integrantes" pelos nomes da equipe.)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ServiceHub é uma plataforma de catálogo de serviços: cada serviço tem nome, categoria, preço e duração estimada. O problema que a API resolve é dar um ponto único e padronizado para cadastrar e consultar esses serviços, com um contrato claro para que outros sistemas possam integrar. O objetivo deste Checkpoint foi entregar um recurso completo de ponta a ponta: o CRUD de Serviços, persistido em PostgreSQL e documentado no Swagger.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é Java 21 com Spring Boot 3.5. Usamos Spring Web para a camada REST, Spring Data JPA para a persistência e PostgreSQL 16 como banco. O Flyway versiona o esquema do banco por migrations, e o SpringDoc gera o OpenAPI e o Swagger UI. O build é Maven, com o Maven Wrapper incluído, então quem clonar o projeto só precisa do JDK. Para validação de entrada usamos Bean Validation, e nos testes JUnit, MockMvc, Mockito e um H2 em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segue uma arquitetura em camadas, cada uma com uma responsabilidade. O Controller só cuida de HTTP: recebe a requisição, valida com @Valid e devolve o status correto. O Service concentra as regras e as transações — por exemplo, lança a exceção de "não encontrado" quando o ID não existe. O Repository estende JpaRepository, então não escrevemos SQL para o CRUD. Por baixo fica o PostgreSQL. Em paralelo, a Entity representa a tabela, os DTOs definem o contrato de entrada e saída, e um handler global padroniza todos os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recurso escolhido foi Serviço. Ele tem id gerado pelo banco, nome, descrição opcional, categoria, preço e duração estimada em minutos, além das datas de criação e atualização, que a própria API preenche. A tabela é criada por uma migration do Flyway; o Hibernate está em modo validate, ou seja, ele apenas confere se a entidade bate com o esquema, sem alterar o banco. O Spring Data JPA faz a leitura e a gravação. Repare nas restrições CHECK no banco: preço e duração precisam ser maiores que zero, então o banco também protege a regra. A conexão vem de variáveis de ambiente, sem senha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cinco endpoints do CRUD, todos com URIs no plural e sem verbos na rota. POST cria e devolve 201 com o cabeçalho Location apontando para o novo recurso. GET lista todos ou busca por ID e devolve 200. PUT atualiza e devolve 200 — escolhemos PUT, então ele substitui o recurso inteiro: todos os campos obrigatórios precisam ser enviados. DELETE devolve 204, sem corpo. Quando o ID não existe, GET, PUT e DELETE devolvem 404; dados inválidos devolvem 400. Os erros usam o padrão Problem Details, com o campo e a mensagem de cada validação que falhou.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é gerada pelo SpringDoc a partir do código. O Swagger UI fica em localhost:8080/swagger-ui.html e a especificação OpenAPI em /v3/api-docs. Esta é uma captura real da nossa tela: os cinco endpoints, com o summary de cada um em português. Cada endpoint tem @Operation com summary e description, @ApiResponse para os códigos que realmente retornam, incluindo exemplos de erro, e os DTOs têm @Schema com descrição e exemplo. Nos testes automatizados, inclusive, verificamos que todos os endpoints têm summary e description no OpenAPI.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demonstração. À esquerda, uma requisição executada de verdade pelo próprio Swagger UI: o POST com o corpo de exemplo devolveu 201 Created, com o corpo do serviço criado e o cabeçalho Location. À direita, a sequência que rodamos com curl contra a API ligada ao PostgreSQL: criar, listar, buscar, atualizar — repare que a data de atualização muda e a de criação se mantém —, excluir com 204 e os erros: 404 quando o ID não existe e 400 quando o corpo é inválido, listando os quatro campos obrigatórios que faltaram. Todos esses status foram observados na execução, não são apenas os esperados.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dois trechos reais do código. O método criar do controller recebe o corpo já validado por @Valid, chama o Service e devolve 201 com o cabeçalho Location. Embaixo, as validações do DTO com Bean Validation: nome obrigatório de 3 a 100 caracteres, preço maior que zero, duração de pelo menos 1 minuto. À direita, a validação: 27 testes automatizados, todos passando — 23 de integração com MockMvc e 4 unitários com Mockito. Além disso, rodamos a aplicação contra um PostgreSQL 16.4 real, conferimos os dados com SELECT direto na tabela e reiniciamos a aplicação para confirmar que os dados persistem. Sobre limitações, sendo transparentes: ainda não há autenticação nem paginação, e os testes automatizados usam H2 em memória — a verificação com PostgreSQL foi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entregamos o projeto Spring Boot configurado com PostgreSQL, o CRUD completo do recurso Serviços, com validação e erros padronizados, a documentação no Swagger com todos os endpoints e 27 testes automatizados passando. Para a entrega final, os próximos passos que planejamos são: autenticação e autorização, novos recursos do domínio — por exemplo clientes e agendamentos —, paginação e filtros na listagem, testes com um PostgreSQL real usando Testcontainers e o empacotamento para deploy. Esses itens são o plano, ainda não estão implementados.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pela atenção! O código, o README com as instruções para executar e a documentação estão no repositório. Ficamos à disposição para perguntas — se quiserem, podemos abrir o Swagger ao vivo e executar qualquer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PROJETO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para catálogo de serviços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· 6º período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APIs RESTful com Java e Spring Boot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Esther Carolina Batista Lima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0972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0F1B23"/>
          </a:solidFill>
          <a:ln w="12700">
            <a:solidFill>
              <a:srgbClr val="1F3A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2435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2435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435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50876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/api/v1/servicos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"nome": "Instalação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 18.000 BTUs",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"categoria":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"Climatização",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"preco": 480.00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ServiceHub?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402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catálogo de serviços.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tem nome, categoria, preço e duração estimada.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0624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2402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e consultar serviços exige um ponto único e padronizado.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contrato claro, integrar sistemas fica difícil.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4088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2402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 CRUD completo do recurso Serviços.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PostgreSQL e documentação interativa no Swagger.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Checkpoint: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recurso completo, de ponta a ponta — requisição HTTP → regras → banco de dados → documentação.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C2691E"/>
          </a:solidFill>
          <a:ln w="12700">
            <a:solidFill>
              <a:srgbClr val="C2691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31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(LTS)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75560" y="13258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58440" y="1508760"/>
            <a:ext cx="502920" cy="502920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70" y="16344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58440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58440" y="2331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93920" y="13258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76800" y="1508760"/>
            <a:ext cx="502920" cy="502920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530" y="16344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76800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76800" y="2331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REST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12280" y="132588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95160" y="1508760"/>
            <a:ext cx="502920" cy="502920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890" y="163449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317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e ORM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27889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09753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0080" y="3566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3794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575560" y="27889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758440" y="2971800"/>
            <a:ext cx="502920" cy="50292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170" y="3097530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758440" y="3566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2758440" y="3794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versionadas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693920" y="27889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76800" y="2971800"/>
            <a:ext cx="502920" cy="502920"/>
          </a:xfrm>
          <a:prstGeom prst="ellipse">
            <a:avLst/>
          </a:prstGeom>
          <a:solidFill>
            <a:srgbClr val="2C8C5A"/>
          </a:solidFill>
          <a:ln w="12700">
            <a:solidFill>
              <a:srgbClr val="2C8C5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2530" y="3097530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4876800" y="3566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876800" y="3794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+ OpenAPI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812280" y="27889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995160" y="2971800"/>
            <a:ext cx="502920" cy="502920"/>
          </a:xfrm>
          <a:prstGeom prst="ellipse">
            <a:avLst/>
          </a:prstGeom>
          <a:solidFill>
            <a:srgbClr val="8A4B9E"/>
          </a:solidFill>
          <a:ln w="12700">
            <a:solidFill>
              <a:srgbClr val="8A4B9E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0890" y="3097530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995160" y="3566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6995160" y="3794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Maven Wrapper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Também: </a:t>
            </a:r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· JUnit 5 · MockMvc · Mockito · H2 (apenas nos testes) · Docker Compose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A4F5C"/>
          </a:solidFill>
          <a:ln w="12700">
            <a:solidFill>
              <a:srgbClr val="3A4F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JSON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2331720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UI, curl ou um front-end.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56232" y="1760220"/>
            <a:ext cx="288036" cy="0"/>
          </a:xfrm>
          <a:prstGeom prst="line">
            <a:avLst/>
          </a:prstGeom>
          <a:noFill/>
          <a:ln w="22225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71700" y="13258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7170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ServicoController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89988" y="2331720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requisição, aplica @Valid e define o status HTTP e a URI.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70732" y="1760220"/>
            <a:ext cx="288036" cy="0"/>
          </a:xfrm>
          <a:prstGeom prst="line">
            <a:avLst/>
          </a:prstGeom>
          <a:noFill/>
          <a:ln w="22225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13258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8620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ServicoService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2331720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transações. Lança 404 se o ID não existe.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85232" y="1760220"/>
            <a:ext cx="288036" cy="0"/>
          </a:xfrm>
          <a:prstGeom prst="line">
            <a:avLst/>
          </a:prstGeom>
          <a:noFill/>
          <a:ln w="22225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00700" y="13258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0070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ServicoRepository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18988" y="2331720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JpaRepository: CRUD sem escrever SQL.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9732" y="1760220"/>
            <a:ext cx="288036" cy="0"/>
          </a:xfrm>
          <a:prstGeom prst="line">
            <a:avLst/>
          </a:prstGeom>
          <a:noFill/>
          <a:ln w="22225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13258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servicos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2331720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criado pela migration V1 do Flyway.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381762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23444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DTOs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34440" y="39044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 mapeia a tabela. ServicoRequest e ServicoResponse são o contrato da API, com validações.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3703320"/>
            <a:ext cx="457200" cy="457200"/>
          </a:xfrm>
          <a:prstGeom prst="ellipse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3817620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4406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5440680" y="39044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(@RestControllerAdvice) padroniza os erros em Problem Details (RFC 9457).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RECURSO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Servico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554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PK, identity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descricao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VARCHAR(500)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opcional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VARCHAR(60)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NUMERIC(10,2)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NULL, &gt;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duracao_minutos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NULL, &gt;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criado_em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TIMESTAMPTZ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atualizado_em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TIMESTAMPTZ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280160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499616"/>
            <a:ext cx="420624" cy="420624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335024"/>
            <a:ext cx="2286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V1__criar_tabela_servicos.sql cria a tabela.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23560" y="226771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487168"/>
            <a:ext cx="420624" cy="420624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322576"/>
            <a:ext cx="2286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ddl-auto=validate, só confere se a entidade bate com o esquema.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23560" y="3255264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3474720"/>
            <a:ext cx="420624" cy="420624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310128"/>
            <a:ext cx="2286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ServicoRepository grava e lê os dados no PostgreSQL.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4224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via variáveis de ambiente: DB_URL, DB_USER e DB_PASSWORD (nenhuma senha no repositório).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IMPLEMENTADO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 recurso Serviços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14600"/>
                <a:gridCol w="1965960"/>
                <a:gridCol w="1600200"/>
                <a:gridCol w="1234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A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/api/v1/servicos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serviço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/api/v1/servicos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/api/v1/servicos/{id}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/api/v1/servicos/{id}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Atualizar (completo)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/api/v1/servicos/{id}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No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14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substitui o recurso inteiro.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campos obrigatórios; a data de criação é preservada.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4114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0060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em Problem Details. </a:t>
            </a:r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application/problem+json, com a lista de campos inválidos.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/ OpenAPI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pic>
        <p:nvPicPr>
          <p:cNvPr id="6" name="Image 0" descr="C:\Projetos\Github\ServiceHub-API\docs\img\swagger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4937760" cy="24928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25880"/>
            <a:ext cx="4937760" cy="2492883"/>
          </a:xfrm>
          <a:prstGeom prst="rect">
            <a:avLst/>
          </a:prstGeom>
          <a:ln w="9525">
            <a:solidFill>
              <a:srgbClr val="C9D4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928491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0F1B23"/>
          </a:solidFill>
          <a:ln w="9525">
            <a:solidFill>
              <a:srgbClr val="1F3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019931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springdoc-openapi-starter-webmvc-ui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2.8.17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springdoc.swagger-ui.path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/swagger-ui.html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springdoc.api-docs.path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/v3/api-docs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06440" y="132588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336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localhost:8080/swagger-ui.html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(JSON)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336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localhost:8080/v3/api-docs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245059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4360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o controller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299923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4360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@Operation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e description em cada endpoint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54787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94360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@ApiResponse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e exemplos de erro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06440" y="409651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43600" y="40965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@Schema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dos DTOs com descrição e exemplo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46451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do Swagger UI, com os 5 endpoints do CRUD.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e respostas reais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no próprio Swagger UI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/api/v1/servicos → Try it out → Execute</a:t>
            </a:r>
            <a:endParaRPr lang="en-US" sz="1200" dirty="0"/>
          </a:p>
        </p:txBody>
      </p:sp>
      <p:pic>
        <p:nvPicPr>
          <p:cNvPr id="7" name="Image 0" descr="C:\Projetos\Github\ServiceHub-API\docs\img\swagger-resposta-2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657600" cy="25812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828800"/>
            <a:ext cx="3657600" cy="2581235"/>
          </a:xfrm>
          <a:prstGeom prst="rect">
            <a:avLst/>
          </a:prstGeom>
          <a:ln w="9525">
            <a:solidFill>
              <a:srgbClr val="C9D4D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9436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/servicos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A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Location: …/servicos/1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/servicos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7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com 2 itens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/servicos/1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7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 encontrado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/servicos/1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82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atualizadoEm renovado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/servicos/2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A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/servicos/99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/servicos {}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campos inválidos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389120" y="37033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0F1B23"/>
          </a:solidFill>
          <a:ln w="9525">
            <a:solidFill>
              <a:srgbClr val="1F3A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26280" y="3794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/api/v1/servicos/99  →  404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"Recurso não encontrado"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404,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"detail"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"Serviço com id 99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não encontrado" 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VALIDAÇÃO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testes e persistência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0F1B23"/>
          </a:solidFill>
          <a:ln w="9525">
            <a:solidFill>
              <a:srgbClr val="1F3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F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ServicoController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ResponseEntity&lt;ServicoResponse&gt; criar(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@Valid @RequestBody ServicoRequest request)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criado = servicoService.criar(request);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URI location = ServletUriComponentsBuilder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.fromCurrentRequest().path(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"/{id}"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.buildAndExpand(criado.id()).toUri();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CC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ResponseEntity.created(location)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.body(criado);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F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ServicoRequest (Bean Validation)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@NotBlank @Size(min = 3, max = 100) String nome,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@NotNull @DecimalMin(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5B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"0.01"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BigDecimal preco,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D6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@NotNull @Min(1) Integer duracaoMinutos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F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nome e categoria: strip() antes da validação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0" y="13258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4068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3716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falhas · 0 erros · 0 ignorados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integração (MockMvc + H2) e 10 unitários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25603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40680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manualmente no PostgreSQL 16.15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Docker: CRUD por HTTP · SELECT direto na tabela · migration Flyway V1 aplicada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37490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6E5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40680" y="37764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atuais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autenticação e sem paginação. Os testes automatizados usam H2, não PostgreSQL.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7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próximos passos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ServiceHub API · Checkpoint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no Checkpoint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1945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Spring Boot configurado com PostgreSQL (Docker Compose)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Serviços em /api/v1/servicos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erros padronizados (400, 404)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com todos os endpoints documentados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testes automatizados passando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508760"/>
            <a:ext cx="457200" cy="45720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230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(entrega final)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1945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recursos do domínio (ex.: clientes, agendamentos)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e filtros na listagem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PostgreSQL real (Testcontainers)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Empacotamento e deploy da API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README.md: execução, endpoints e testes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RELATORIO_TECNICO_TESTES.md: validação detalhada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0" y="109728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12303F"/>
          </a:solidFill>
          <a:ln w="12700">
            <a:solidFill>
              <a:srgbClr val="1F3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4068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6459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das aulas da disciplina (REST, Spring Boot, JPA/PostgreSQL, OpenAPI)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Reference — docs.spring.io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— springdoc.org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Documentation — postgresql.org/docs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— documentation.red-gate.com/flyway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9457: Problem Details for HTTP APIs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ServiceHub API — Checkpoint do Projeto</dc:title>
  <dc:subject>Engenharia de Software — 6º período</dc:subject>
  <dc:creator>PptxGenJS</dc:creator>
  <cp:lastModifiedBy>PptxGenJS</cp:lastModifiedBy>
  <cp:revision>1</cp:revision>
  <dcterms:created xsi:type="dcterms:W3CDTF">2026-09-20T15:22:06Z</dcterms:created>
  <dcterms:modified xsi:type="dcterms:W3CDTF">2026-09-20T15:22:06Z</dcterms:modified>
</cp:coreProperties>
</file>